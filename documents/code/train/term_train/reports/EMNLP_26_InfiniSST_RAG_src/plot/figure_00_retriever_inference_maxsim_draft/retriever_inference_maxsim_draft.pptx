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3749039" cy="41148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2200" b="0">
                <a:solidFill>
                  <a:srgbClr val="9B111E"/>
                </a:solidFill>
                <a:latin typeface="Aptos"/>
              </a:rPr>
              <a:t>Retriever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71800" y="713232"/>
            <a:ext cx="6309360" cy="29260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600" b="1">
                <a:solidFill>
                  <a:srgbClr val="111827"/>
                </a:solidFill>
                <a:latin typeface="Aptos"/>
              </a:rPr>
              <a:t>Timeline-Aware MaxSim Term Retrieval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115568"/>
            <a:ext cx="2697480" cy="5074920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" y="1225295"/>
            <a:ext cx="2478024" cy="38404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  <a:latin typeface="Aptos"/>
              </a:rPr>
              <a:t>1. Timeline-Aware Audio
Context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115568"/>
            <a:ext cx="2697480" cy="5074920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55848" y="1225295"/>
            <a:ext cx="2478024" cy="38404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  <a:latin typeface="Aptos"/>
              </a:rPr>
              <a:t>2. Speech Window
Construction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15568"/>
            <a:ext cx="2697480" cy="5074920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225295"/>
            <a:ext cx="2478024" cy="38404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  <a:latin typeface="Aptos"/>
              </a:rPr>
              <a:t>3. MaxSim Retrieval against
Glossary Bank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115568"/>
            <a:ext cx="2697480" cy="5074920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8007" y="1225295"/>
            <a:ext cx="2478024" cy="38404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  <a:latin typeface="Aptos"/>
              </a:rPr>
              <a:t>4. Filtering and
Term-Map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21408"/>
            <a:ext cx="960120" cy="20116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Aptos"/>
              </a:rPr>
              <a:t>speech timeline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4632" y="3218687"/>
            <a:ext cx="2286000" cy="0"/>
          </a:xfrm>
          <a:prstGeom prst="line">
            <a:avLst/>
          </a:prstGeom>
          <a:ln w="1397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84632" y="2697479"/>
            <a:ext cx="59436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950" b="0">
                <a:solidFill>
                  <a:srgbClr val="111827"/>
                </a:solidFill>
                <a:latin typeface="Aptos"/>
              </a:rPr>
              <a:t>previous
chunk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13432" y="2697479"/>
            <a:ext cx="45720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950" b="0">
                <a:solidFill>
                  <a:srgbClr val="111827"/>
                </a:solidFill>
                <a:latin typeface="Aptos"/>
              </a:rPr>
              <a:t>next
chunk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24712" y="2642615"/>
            <a:ext cx="804672" cy="868680"/>
          </a:xfrm>
          <a:prstGeom prst="rect">
            <a:avLst/>
          </a:prstGeom>
          <a:solidFill>
            <a:srgbClr val="D8D8D8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29384" y="2121407"/>
            <a:ext cx="566928" cy="1389888"/>
          </a:xfrm>
          <a:prstGeom prst="rect">
            <a:avLst/>
          </a:prstGeom>
          <a:solidFill>
            <a:srgbClr val="12A8E8"/>
          </a:solidFill>
          <a:ln w="12700">
            <a:solidFill>
              <a:srgbClr val="067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900" b="1">
                <a:solidFill>
                  <a:srgbClr val="111827"/>
                </a:solidFill>
                <a:latin typeface="Aptos"/>
              </a:rPr>
              <a:t>cᵢ
current
chunk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929384" y="1911095"/>
            <a:ext cx="0" cy="1865377"/>
          </a:xfrm>
          <a:prstGeom prst="line">
            <a:avLst/>
          </a:prstGeom>
          <a:ln w="12700">
            <a:solidFill>
              <a:srgbClr val="26323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947672" y="1746503"/>
            <a:ext cx="68580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  <a:latin typeface="Aptos"/>
              </a:rPr>
              <a:t>current-step
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01568"/>
            <a:ext cx="41148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900" b="0">
                <a:solidFill>
                  <a:srgbClr val="111827"/>
                </a:solidFill>
                <a:latin typeface="Aptos"/>
              </a:rPr>
              <a:t>cᵢ₋₁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42032" y="3401568"/>
            <a:ext cx="384048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900" b="0">
                <a:solidFill>
                  <a:srgbClr val="111827"/>
                </a:solidFill>
                <a:latin typeface="Aptos"/>
              </a:rPr>
              <a:t>cᵢ₊₁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19" y="3108959"/>
            <a:ext cx="68580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900" b="0">
                <a:solidFill>
                  <a:srgbClr val="111827"/>
                </a:solidFill>
                <a:latin typeface="Aptos"/>
              </a:rPr>
              <a:t>1.92s
look-back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937759"/>
            <a:ext cx="1783080" cy="41148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Aptos"/>
              </a:rPr>
              <a:t>audio context
 aᵢ = look-back + current chunk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52344" y="3931920"/>
            <a:ext cx="768095" cy="0"/>
          </a:xfrm>
          <a:prstGeom prst="line">
            <a:avLst/>
          </a:prstGeom>
          <a:ln w="1778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749039" y="1828800"/>
            <a:ext cx="1234440" cy="475488"/>
          </a:xfrm>
          <a:prstGeom prst="roundRect">
            <a:avLst/>
          </a:prstGeom>
          <a:solidFill>
            <a:srgbClr val="BCE8A9"/>
          </a:solidFill>
          <a:ln w="12700">
            <a:solidFill>
              <a:srgbClr val="437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200" b="0">
                <a:solidFill>
                  <a:srgbClr val="111827"/>
                </a:solidFill>
                <a:latin typeface="Aptos"/>
              </a:rPr>
              <a:t>Speech
encoder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361688" y="2304288"/>
            <a:ext cx="0" cy="438912"/>
          </a:xfrm>
          <a:prstGeom prst="line">
            <a:avLst/>
          </a:prstGeom>
          <a:ln w="1778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3749039" y="2706624"/>
            <a:ext cx="310896" cy="310896"/>
          </a:xfrm>
          <a:prstGeom prst="ellipse">
            <a:avLst/>
          </a:prstGeom>
          <a:solidFill>
            <a:srgbClr val="A9D5FF"/>
          </a:solidFill>
          <a:ln>
            <a:solidFill>
              <a:srgbClr val="4B83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67327" y="2752344"/>
            <a:ext cx="274320" cy="18288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850" b="0">
                <a:solidFill>
                  <a:srgbClr val="111827"/>
                </a:solidFill>
                <a:latin typeface="Aptos"/>
              </a:rPr>
              <a:t>h₁</a:t>
            </a:r>
          </a:p>
        </p:txBody>
      </p:sp>
      <p:sp>
        <p:nvSpPr>
          <p:cNvPr id="29" name="Oval 28"/>
          <p:cNvSpPr/>
          <p:nvPr/>
        </p:nvSpPr>
        <p:spPr>
          <a:xfrm>
            <a:off x="4187952" y="2706624"/>
            <a:ext cx="310896" cy="310896"/>
          </a:xfrm>
          <a:prstGeom prst="ellipse">
            <a:avLst/>
          </a:prstGeom>
          <a:solidFill>
            <a:srgbClr val="A9D5FF"/>
          </a:solidFill>
          <a:ln>
            <a:solidFill>
              <a:srgbClr val="4B83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06240" y="2752344"/>
            <a:ext cx="274320" cy="18288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850" b="0">
                <a:solidFill>
                  <a:srgbClr val="111827"/>
                </a:solidFill>
                <a:latin typeface="Aptos"/>
              </a:rPr>
              <a:t>h₂</a:t>
            </a:r>
          </a:p>
        </p:txBody>
      </p:sp>
      <p:sp>
        <p:nvSpPr>
          <p:cNvPr id="31" name="Oval 30"/>
          <p:cNvSpPr/>
          <p:nvPr/>
        </p:nvSpPr>
        <p:spPr>
          <a:xfrm>
            <a:off x="4626864" y="2706624"/>
            <a:ext cx="310896" cy="310896"/>
          </a:xfrm>
          <a:prstGeom prst="ellipse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26864" y="2761488"/>
            <a:ext cx="310896" cy="18288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Aptos"/>
              </a:rPr>
              <a:t>...</a:t>
            </a:r>
          </a:p>
        </p:txBody>
      </p:sp>
      <p:sp>
        <p:nvSpPr>
          <p:cNvPr id="33" name="Oval 32"/>
          <p:cNvSpPr/>
          <p:nvPr/>
        </p:nvSpPr>
        <p:spPr>
          <a:xfrm>
            <a:off x="5065775" y="2706624"/>
            <a:ext cx="310896" cy="310896"/>
          </a:xfrm>
          <a:prstGeom prst="ellipse">
            <a:avLst/>
          </a:prstGeom>
          <a:solidFill>
            <a:srgbClr val="A9D5FF"/>
          </a:solidFill>
          <a:ln>
            <a:solidFill>
              <a:srgbClr val="4B83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84063" y="2752344"/>
            <a:ext cx="274320" cy="18288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850" b="0">
                <a:solidFill>
                  <a:srgbClr val="111827"/>
                </a:solidFill>
                <a:latin typeface="Aptos"/>
              </a:rPr>
              <a:t>hₘ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66160" y="3511296"/>
            <a:ext cx="868680" cy="274320"/>
          </a:xfrm>
          <a:prstGeom prst="rect">
            <a:avLst/>
          </a:prstGeom>
          <a:solidFill>
            <a:srgbClr val="D9ECFA"/>
          </a:solidFill>
          <a:ln w="12700">
            <a:solidFill>
              <a:srgbClr val="6C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04487" y="3694176"/>
            <a:ext cx="960120" cy="274320"/>
          </a:xfrm>
          <a:prstGeom prst="rect">
            <a:avLst/>
          </a:prstGeom>
          <a:solidFill>
            <a:srgbClr val="D9ECFA"/>
          </a:solidFill>
          <a:ln w="12700">
            <a:solidFill>
              <a:srgbClr val="6C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904487"/>
            <a:ext cx="1143000" cy="274320"/>
          </a:xfrm>
          <a:prstGeom prst="rect">
            <a:avLst/>
          </a:prstGeom>
          <a:solidFill>
            <a:srgbClr val="D9ECFA"/>
          </a:solidFill>
          <a:ln w="12700">
            <a:solidFill>
              <a:srgbClr val="6C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34840" y="4151376"/>
            <a:ext cx="1024128" cy="274320"/>
          </a:xfrm>
          <a:prstGeom prst="rect">
            <a:avLst/>
          </a:prstGeom>
          <a:solidFill>
            <a:srgbClr val="D9ECFA"/>
          </a:solidFill>
          <a:ln w="12700">
            <a:solidFill>
              <a:srgbClr val="6C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 flipH="1" flipV="1">
            <a:off x="3867911" y="3986784"/>
            <a:ext cx="36576" cy="374904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206240" y="4059936"/>
            <a:ext cx="155448" cy="393192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474720" y="4389120"/>
            <a:ext cx="777240" cy="38404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may start,
i.e. overlap cᵢ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60520" y="5029200"/>
            <a:ext cx="1417320" cy="34747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ptos"/>
              </a:rPr>
              <a:t>multi-scale
speech windows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733288" y="2029967"/>
            <a:ext cx="329184" cy="0"/>
          </a:xfrm>
          <a:prstGeom prst="line">
            <a:avLst/>
          </a:prstGeom>
          <a:ln w="1778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733288" y="2944368"/>
            <a:ext cx="329184" cy="0"/>
          </a:xfrm>
          <a:prstGeom prst="line">
            <a:avLst/>
          </a:prstGeom>
          <a:ln w="1778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733288" y="4023360"/>
            <a:ext cx="329184" cy="0"/>
          </a:xfrm>
          <a:prstGeom prst="line">
            <a:avLst/>
          </a:prstGeom>
          <a:ln w="1778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355080" y="2029967"/>
            <a:ext cx="960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ptos"/>
              </a:rPr>
              <a:t>Cosine Similarity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28232" y="2532888"/>
            <a:ext cx="301752" cy="301752"/>
          </a:xfrm>
          <a:prstGeom prst="rect">
            <a:avLst/>
          </a:prstGeom>
          <a:solidFill>
            <a:srgbClr val="64B87A"/>
          </a:solidFill>
          <a:ln w="12700">
            <a:solidFill>
              <a:srgbClr val="64B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29984" y="2532888"/>
            <a:ext cx="301752" cy="301752"/>
          </a:xfrm>
          <a:prstGeom prst="rect">
            <a:avLst/>
          </a:prstGeom>
          <a:solidFill>
            <a:srgbClr val="A8CE81"/>
          </a:solidFill>
          <a:ln w="12700">
            <a:solidFill>
              <a:srgbClr val="A8C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031736" y="2532888"/>
            <a:ext cx="301752" cy="301752"/>
          </a:xfrm>
          <a:prstGeom prst="rect">
            <a:avLst/>
          </a:prstGeom>
          <a:solidFill>
            <a:srgbClr val="F3DD7C"/>
          </a:solidFill>
          <a:ln w="12700">
            <a:solidFill>
              <a:srgbClr val="F3D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333488" y="2532888"/>
            <a:ext cx="301752" cy="301752"/>
          </a:xfrm>
          <a:prstGeom prst="rect">
            <a:avLst/>
          </a:prstGeom>
          <a:solidFill>
            <a:srgbClr val="F4A65D"/>
          </a:solidFill>
          <a:ln w="12700">
            <a:solidFill>
              <a:srgbClr val="F4A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28232" y="2834640"/>
            <a:ext cx="301752" cy="301752"/>
          </a:xfrm>
          <a:prstGeom prst="rect">
            <a:avLst/>
          </a:prstGeom>
          <a:solidFill>
            <a:srgbClr val="76C389"/>
          </a:solidFill>
          <a:ln w="12700">
            <a:solidFill>
              <a:srgbClr val="76C3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729984" y="2834640"/>
            <a:ext cx="301752" cy="301752"/>
          </a:xfrm>
          <a:prstGeom prst="rect">
            <a:avLst/>
          </a:prstGeom>
          <a:solidFill>
            <a:srgbClr val="B8D38C"/>
          </a:solidFill>
          <a:ln w="12700">
            <a:solidFill>
              <a:srgbClr val="B8D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31736" y="2834640"/>
            <a:ext cx="301752" cy="301752"/>
          </a:xfrm>
          <a:prstGeom prst="rect">
            <a:avLst/>
          </a:prstGeom>
          <a:solidFill>
            <a:srgbClr val="F2D36C"/>
          </a:solidFill>
          <a:ln w="12700">
            <a:solidFill>
              <a:srgbClr val="F2D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33488" y="2834640"/>
            <a:ext cx="301752" cy="301752"/>
          </a:xfrm>
          <a:prstGeom prst="rect">
            <a:avLst/>
          </a:prstGeom>
          <a:solidFill>
            <a:srgbClr val="F28C50"/>
          </a:solidFill>
          <a:ln w="12700">
            <a:solidFill>
              <a:srgbClr val="F28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28232" y="3136392"/>
            <a:ext cx="301752" cy="301752"/>
          </a:xfrm>
          <a:prstGeom prst="rect">
            <a:avLst/>
          </a:prstGeom>
          <a:solidFill>
            <a:srgbClr val="78C58A"/>
          </a:solidFill>
          <a:ln w="12700">
            <a:solidFill>
              <a:srgbClr val="78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729984" y="3136392"/>
            <a:ext cx="301752" cy="301752"/>
          </a:xfrm>
          <a:prstGeom prst="rect">
            <a:avLst/>
          </a:prstGeom>
          <a:solidFill>
            <a:srgbClr val="ABD184"/>
          </a:solidFill>
          <a:ln w="12700">
            <a:solidFill>
              <a:srgbClr val="ABD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031736" y="3136392"/>
            <a:ext cx="301752" cy="301752"/>
          </a:xfrm>
          <a:prstGeom prst="rect">
            <a:avLst/>
          </a:prstGeom>
          <a:solidFill>
            <a:srgbClr val="EAD86E"/>
          </a:solidFill>
          <a:ln w="12700">
            <a:solidFill>
              <a:srgbClr val="EAD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333488" y="3136392"/>
            <a:ext cx="301752" cy="301752"/>
          </a:xfrm>
          <a:prstGeom prst="rect">
            <a:avLst/>
          </a:prstGeom>
          <a:solidFill>
            <a:srgbClr val="F0A25F"/>
          </a:solidFill>
          <a:ln w="12700">
            <a:solidFill>
              <a:srgbClr val="F0A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428232" y="3438144"/>
            <a:ext cx="301752" cy="301752"/>
          </a:xfrm>
          <a:prstGeom prst="rect">
            <a:avLst/>
          </a:prstGeom>
          <a:solidFill>
            <a:srgbClr val="75C187"/>
          </a:solidFill>
          <a:ln w="12700">
            <a:solidFill>
              <a:srgbClr val="75C1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729984" y="3438144"/>
            <a:ext cx="301752" cy="301752"/>
          </a:xfrm>
          <a:prstGeom prst="rect">
            <a:avLst/>
          </a:prstGeom>
          <a:solidFill>
            <a:srgbClr val="A4CD7D"/>
          </a:solidFill>
          <a:ln w="12700">
            <a:solidFill>
              <a:srgbClr val="A4C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031736" y="3438144"/>
            <a:ext cx="301752" cy="301752"/>
          </a:xfrm>
          <a:prstGeom prst="rect">
            <a:avLst/>
          </a:prstGeom>
          <a:solidFill>
            <a:srgbClr val="E5D56E"/>
          </a:solidFill>
          <a:ln w="12700">
            <a:solidFill>
              <a:srgbClr val="E5D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33488" y="3438144"/>
            <a:ext cx="301752" cy="301752"/>
          </a:xfrm>
          <a:prstGeom prst="rect">
            <a:avLst/>
          </a:prstGeom>
          <a:solidFill>
            <a:srgbClr val="F4B56D"/>
          </a:solidFill>
          <a:ln w="12700">
            <a:solidFill>
              <a:srgbClr val="F4B5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428232" y="3739896"/>
            <a:ext cx="301752" cy="301752"/>
          </a:xfrm>
          <a:prstGeom prst="rect">
            <a:avLst/>
          </a:prstGeom>
          <a:solidFill>
            <a:srgbClr val="6CBA7D"/>
          </a:solidFill>
          <a:ln w="12700">
            <a:solidFill>
              <a:srgbClr val="6C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729984" y="3739896"/>
            <a:ext cx="301752" cy="301752"/>
          </a:xfrm>
          <a:prstGeom prst="rect">
            <a:avLst/>
          </a:prstGeom>
          <a:solidFill>
            <a:srgbClr val="9FC978"/>
          </a:solidFill>
          <a:ln w="12700">
            <a:solidFill>
              <a:srgbClr val="9F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031736" y="3739896"/>
            <a:ext cx="301752" cy="301752"/>
          </a:xfrm>
          <a:prstGeom prst="rect">
            <a:avLst/>
          </a:prstGeom>
          <a:solidFill>
            <a:srgbClr val="E0CF6D"/>
          </a:solidFill>
          <a:ln w="12700">
            <a:solidFill>
              <a:srgbClr val="E0C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333488" y="3739896"/>
            <a:ext cx="301752" cy="301752"/>
          </a:xfrm>
          <a:prstGeom prst="rect">
            <a:avLst/>
          </a:prstGeom>
          <a:solidFill>
            <a:srgbClr val="F2A960"/>
          </a:solidFill>
          <a:ln w="12700">
            <a:solidFill>
              <a:srgbClr val="F2A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004304" y="3410712"/>
            <a:ext cx="713232" cy="329184"/>
          </a:xfrm>
          <a:prstGeom prst="roundRect">
            <a:avLst/>
          </a:prstGeom>
          <a:solidFill>
            <a:srgbClr val="BCE8A9"/>
          </a:solidFill>
          <a:ln w="12700">
            <a:solidFill>
              <a:srgbClr val="437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0">
                <a:solidFill>
                  <a:srgbClr val="111827"/>
                </a:solidFill>
                <a:latin typeface="Aptos"/>
              </a:rPr>
              <a:t>max(...)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73368" y="5138928"/>
            <a:ext cx="1965960" cy="47548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Aptos"/>
              </a:rPr>
              <a:t>MaxSim:
score(eⱼ) = max over
speech windows zᵀ gⱼ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91272" y="1892807"/>
            <a:ext cx="822960" cy="41148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900" b="0">
                <a:solidFill>
                  <a:srgbClr val="111827"/>
                </a:solidFill>
                <a:latin typeface="Aptos"/>
              </a:rPr>
              <a:t>Pre-encoded
glossary bank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74152" y="2468880"/>
            <a:ext cx="438912" cy="384048"/>
          </a:xfrm>
          <a:prstGeom prst="rect">
            <a:avLst/>
          </a:prstGeom>
          <a:solidFill>
            <a:srgbClr val="F6B28D"/>
          </a:solidFill>
          <a:ln w="12700">
            <a:solidFill>
              <a:srgbClr val="B55E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0">
                <a:solidFill>
                  <a:srgbClr val="111827"/>
                </a:solidFill>
                <a:latin typeface="Aptos"/>
              </a:rPr>
              <a:t>g₁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074152" y="2907792"/>
            <a:ext cx="438912" cy="384048"/>
          </a:xfrm>
          <a:prstGeom prst="rect">
            <a:avLst/>
          </a:prstGeom>
          <a:solidFill>
            <a:srgbClr val="F6B28D"/>
          </a:solidFill>
          <a:ln w="12700">
            <a:solidFill>
              <a:srgbClr val="B55E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0">
                <a:solidFill>
                  <a:srgbClr val="111827"/>
                </a:solidFill>
                <a:latin typeface="Aptos"/>
              </a:rPr>
              <a:t>g₂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65592" y="3584448"/>
            <a:ext cx="32004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600" b="1">
                <a:solidFill>
                  <a:srgbClr val="111827"/>
                </a:solidFill>
                <a:latin typeface="Aptos"/>
              </a:rPr>
              <a:t>...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074152" y="4453128"/>
            <a:ext cx="438912" cy="384048"/>
          </a:xfrm>
          <a:prstGeom prst="rect">
            <a:avLst/>
          </a:prstGeom>
          <a:solidFill>
            <a:srgbClr val="F6B28D"/>
          </a:solidFill>
          <a:ln w="12700">
            <a:solidFill>
              <a:srgbClr val="B55E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0">
                <a:solidFill>
                  <a:srgbClr val="111827"/>
                </a:solidFill>
                <a:latin typeface="Aptos"/>
              </a:rPr>
              <a:t>gₙ</a:t>
            </a:r>
          </a:p>
        </p:txBody>
      </p:sp>
      <p:cxnSp>
        <p:nvCxnSpPr>
          <p:cNvPr id="74" name="Connector 73"/>
          <p:cNvCxnSpPr/>
          <p:nvPr/>
        </p:nvCxnSpPr>
        <p:spPr>
          <a:xfrm flipV="1">
            <a:off x="7635240" y="2688336"/>
            <a:ext cx="438912" cy="740664"/>
          </a:xfrm>
          <a:prstGeom prst="line">
            <a:avLst/>
          </a:prstGeom>
          <a:ln w="11430">
            <a:solidFill>
              <a:srgbClr val="B55E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>
            <a:off x="7616952" y="2688336"/>
            <a:ext cx="457200" cy="941832"/>
          </a:xfrm>
          <a:prstGeom prst="line">
            <a:avLst/>
          </a:prstGeom>
          <a:ln w="11430">
            <a:solidFill>
              <a:srgbClr val="437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635240" y="3127248"/>
            <a:ext cx="438912" cy="301752"/>
          </a:xfrm>
          <a:prstGeom prst="line">
            <a:avLst/>
          </a:prstGeom>
          <a:ln w="11430">
            <a:solidFill>
              <a:srgbClr val="B55E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>
            <a:off x="7616952" y="3127248"/>
            <a:ext cx="457200" cy="502920"/>
          </a:xfrm>
          <a:prstGeom prst="line">
            <a:avLst/>
          </a:prstGeom>
          <a:ln w="11430">
            <a:solidFill>
              <a:srgbClr val="437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635240" y="3429000"/>
            <a:ext cx="438912" cy="1344168"/>
          </a:xfrm>
          <a:prstGeom prst="line">
            <a:avLst/>
          </a:prstGeom>
          <a:ln w="11430">
            <a:solidFill>
              <a:srgbClr val="B55E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H="1" flipV="1">
            <a:off x="7616952" y="3630168"/>
            <a:ext cx="457200" cy="1143000"/>
          </a:xfrm>
          <a:prstGeom prst="line">
            <a:avLst/>
          </a:prstGeom>
          <a:ln w="11430">
            <a:solidFill>
              <a:srgbClr val="437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8659368" y="3172968"/>
            <a:ext cx="301752" cy="0"/>
          </a:xfrm>
          <a:prstGeom prst="line">
            <a:avLst/>
          </a:prstGeom>
          <a:ln w="1778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9354311" y="1773936"/>
            <a:ext cx="2148840" cy="749808"/>
          </a:xfrm>
          <a:prstGeom prst="roundRect">
            <a:avLst/>
          </a:prstGeom>
          <a:solidFill>
            <a:srgbClr val="BCE8A9"/>
          </a:solidFill>
          <a:ln w="12700">
            <a:solidFill>
              <a:srgbClr val="437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100" b="0">
                <a:solidFill>
                  <a:srgbClr val="111827"/>
                </a:solidFill>
                <a:latin typeface="Aptos"/>
              </a:rPr>
              <a:t>logical:
- overlap current chunk
- score ≥ τ
- top-K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10424159" y="2532888"/>
            <a:ext cx="0" cy="548640"/>
          </a:xfrm>
          <a:prstGeom prst="line">
            <a:avLst/>
          </a:prstGeom>
          <a:ln w="1778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ectangle 82"/>
          <p:cNvSpPr/>
          <p:nvPr/>
        </p:nvSpPr>
        <p:spPr>
          <a:xfrm>
            <a:off x="9665207" y="3127248"/>
            <a:ext cx="749808" cy="438912"/>
          </a:xfrm>
          <a:prstGeom prst="rect">
            <a:avLst/>
          </a:prstGeom>
          <a:solidFill>
            <a:srgbClr val="D9ECFA"/>
          </a:solidFill>
          <a:ln w="12700">
            <a:solidFill>
              <a:srgbClr val="6C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908792" y="3145536"/>
            <a:ext cx="420624" cy="420624"/>
          </a:xfrm>
          <a:prstGeom prst="rect">
            <a:avLst/>
          </a:prstGeom>
          <a:solidFill>
            <a:srgbClr val="D9ECFA"/>
          </a:solidFill>
          <a:ln w="12700">
            <a:solidFill>
              <a:srgbClr val="6C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9628632" y="3072384"/>
            <a:ext cx="822960" cy="548640"/>
          </a:xfrm>
          <a:prstGeom prst="line">
            <a:avLst/>
          </a:prstGeom>
          <a:ln w="2286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>
            <a:off x="9628632" y="3072384"/>
            <a:ext cx="822960" cy="548640"/>
          </a:xfrm>
          <a:prstGeom prst="line">
            <a:avLst/>
          </a:prstGeom>
          <a:ln w="2286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0872215" y="3090672"/>
            <a:ext cx="493777" cy="502919"/>
          </a:xfrm>
          <a:prstGeom prst="line">
            <a:avLst/>
          </a:prstGeom>
          <a:ln w="2286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>
            <a:off x="10872215" y="3090672"/>
            <a:ext cx="493777" cy="502919"/>
          </a:xfrm>
          <a:prstGeom prst="line">
            <a:avLst/>
          </a:prstGeom>
          <a:ln w="2286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0424159" y="3657600"/>
            <a:ext cx="0" cy="292608"/>
          </a:xfrm>
          <a:prstGeom prst="line">
            <a:avLst/>
          </a:prstGeom>
          <a:ln w="1778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9390888" y="3995928"/>
            <a:ext cx="2057400" cy="25603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200" b="0">
                <a:solidFill>
                  <a:srgbClr val="111827"/>
                </a:solidFill>
                <a:latin typeface="Aptos"/>
              </a:rPr>
              <a:t>step-local term map Gᵢ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354311" y="4288536"/>
            <a:ext cx="2148840" cy="841248"/>
          </a:xfrm>
          <a:prstGeom prst="roundRect">
            <a:avLst/>
          </a:prstGeom>
          <a:solidFill>
            <a:srgbClr val="F6B28D"/>
          </a:solidFill>
          <a:ln w="12700">
            <a:solidFill>
              <a:srgbClr val="B55E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0">
                <a:solidFill>
                  <a:srgbClr val="111827"/>
                </a:solidFill>
                <a:latin typeface="Aptos"/>
              </a:rPr>
              <a:t>source term -&gt; target term
source term -&gt; target term
...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208007" y="5522976"/>
            <a:ext cx="2468880" cy="41148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860" b="0">
                <a:solidFill>
                  <a:srgbClr val="111827"/>
                </a:solidFill>
                <a:latin typeface="Aptos"/>
              </a:rPr>
              <a:t>stateless per step: Gᵢ is recomputed
from aᵢ and the glossary bank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